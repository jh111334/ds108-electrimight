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6256000" cy="9144000"/>
  <p:notesSz cx="9144000" cy="16256000"/>
  <p:embeddedFontLst>
    <p:embeddedFont>
      <p:font typeface="Quattrocento Sans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2D4A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Idling</c:v>
                  </c:pt>
                  <c:pt idx="1">
                    <c:v>Leakage</c:v>
                  </c:pt>
                  <c:pt idx="2">
                    <c:v>Overload</c:v>
                  </c:pt>
                  <c:pt idx="3">
                    <c:v>anomaly_any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</c:v>
                </c:pt>
                <c:pt idx="1">
                  <c:v>2336</c:v>
                </c:pt>
                <c:pt idx="2">
                  <c:v>48</c:v>
                </c:pt>
                <c:pt idx="3">
                  <c:v>2388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E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0E6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Anomaly Rate (%)</c:v>
                </c:pt>
              </c:strCache>
            </c:strRef>
          </c:tx>
          <c:spPr>
            <a:solidFill>
              <a:srgbClr val="C4785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Light</c:v>
                  </c:pt>
                  <c:pt idx="1">
                    <c:v>Medium</c:v>
                  </c:pt>
                  <c:pt idx="2">
                    <c:v>Maximum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0.0</c:formatCode>
                <c:ptCount val="3"/>
                <c:pt idx="0">
                  <c:v>6.336</c:v>
                </c:pt>
                <c:pt idx="1">
                  <c:v>7.189</c:v>
                </c:pt>
                <c:pt idx="2">
                  <c:v>7.508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E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2D4A3E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Raw only</c:v>
                  </c:pt>
                  <c:pt idx="1">
                    <c:v>+ Time</c:v>
                  </c:pt>
                  <c:pt idx="2">
                    <c:v>+ Time + Weather</c:v>
                  </c:pt>
                  <c:pt idx="3">
                    <c:v>All features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0.00</c:formatCode>
                <c:ptCount val="4"/>
                <c:pt idx="0">
                  <c:v>13.0119</c:v>
                </c:pt>
                <c:pt idx="1">
                  <c:v>12.0087</c:v>
                </c:pt>
                <c:pt idx="2">
                  <c:v>12.2585</c:v>
                </c:pt>
                <c:pt idx="3">
                  <c:v>12.1781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E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.5"/>
          <c:min val="11.5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PR-AUC</c:v>
                </c:pt>
              </c:strCache>
            </c:strRef>
          </c:tx>
          <c:spPr>
            <a:solidFill>
              <a:srgbClr val="C4785A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Raw only</c:v>
                  </c:pt>
                  <c:pt idx="1">
                    <c:v>+ Time</c:v>
                  </c:pt>
                  <c:pt idx="2">
                    <c:v>+ Time + Weather</c:v>
                  </c:pt>
                  <c:pt idx="3">
                    <c:v>All features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0.198</c:v>
                </c:pt>
                <c:pt idx="1">
                  <c:v>0.15</c:v>
                </c:pt>
                <c:pt idx="2">
                  <c:v>0.364</c:v>
                </c:pt>
                <c:pt idx="3">
                  <c:v>0.308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E1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5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1A2F28"/>
            </a:gs>
            <a:gs pos="60000">
              <a:srgbClr val="2D4A3E"/>
            </a:gs>
            <a:gs pos="100000">
              <a:srgbClr val="3D5A4E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2540000" cy="381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3" name="Text 1"/>
          <p:cNvSpPr/>
          <p:nvPr/>
        </p:nvSpPr>
        <p:spPr>
          <a:xfrm>
            <a:off x="740669" y="2587403"/>
            <a:ext cx="14774663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Thu thập và tiền xử lý dữ liệu cho bài toán dự báo Điện và rủi ro trong tải Điện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813157" y="4572000"/>
            <a:ext cx="12629686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From raw meters log to auditable industrial Electricity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54602" y="6170264"/>
            <a:ext cx="3810000" cy="12700"/>
          </a:xfrm>
          <a:prstGeom prst="rect">
            <a:avLst/>
          </a:prstGeom>
          <a:solidFill>
            <a:srgbClr val="7A8B7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785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Gap Analysis · Động cơ · Dataset · Pipeline · Kết quả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đề: Dữ liệu Gốc Thiếu Ngữ cảnh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270000"/>
            <a:ext cx="812800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Nhà máy thép tiêu thụ điện lớn, nhưng dữ liệu công khai thường chỉ là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meter logs thô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Muốn dự báo và nhận biết rủi ro thì cần: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Ngữ cảnh vận hành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Feature vật lý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Nhãn có thể giải thích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98000" y="1270000"/>
            <a:ext cx="6096000" cy="3683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9000" y="1905000"/>
            <a:ext cx="5334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42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 cột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9779000" y="2921000"/>
            <a:ext cx="533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có: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Maintenance / SCADA alarm labels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context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vật lý / wavelet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5473700"/>
            <a:ext cx="14732000" cy="533400"/>
          </a:xfrm>
          <a:prstGeom prst="roundRect">
            <a:avLst>
              <a:gd name="adj" fmla="val 4000"/>
            </a:avLst>
          </a:prstGeom>
          <a:solidFill>
            <a:srgbClr val="2D4A3E">
              <a:alpha val="7059"/>
            </a:srgbClr>
          </a:solidFill>
          <a:ln w="12700">
            <a:solidFill>
              <a:srgbClr val="2D4A3E">
                <a:alpha val="1451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76301" y="5473700"/>
            <a:ext cx="13779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Thách thức: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Dữ liệu thiếu ngữ cảnh khiến các mô hình dự báo rủi ro khó có đầu vào đủ giàu thông tin để phát hiện bất thường 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Gap Analysis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Động cơ · Dataset · Pipeline · Kết quả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Gap Analysis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4572000" cy="3556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498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SCADA / Condition Monitoring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32000"/>
            <a:ext cx="406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Mạnh cho safety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Phụ thuộc sensor/log nội bộ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Yêu cầu hạ tầng đo lường đắt đỏ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Khó áp dụng cho dữ liệu công khai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922000" y="1333500"/>
            <a:ext cx="4572000" cy="3556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98225" y="1524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2D4A3E"/>
          </a:solidFill>
          <a:ln/>
        </p:spPr>
      </p:sp>
      <p:sp>
        <p:nvSpPr>
          <p:cNvPr id="12" name="Text 10"/>
          <p:cNvSpPr/>
          <p:nvPr/>
        </p:nvSpPr>
        <p:spPr>
          <a:xfrm>
            <a:off x="11684000" y="14986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Public Meter Dataset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76000" y="2032000"/>
            <a:ext cx="4064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Dễ tiếp cận, miễn phí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Thiếu ngữ cảnh vận hành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Không có nhãn bất thường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Khó dùng trực tiếp cho phân tích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40500" y="2032000"/>
            <a:ext cx="3175000" cy="2159000"/>
          </a:xfrm>
          <a:prstGeom prst="roundRect">
            <a:avLst>
              <a:gd name="adj" fmla="val 20000"/>
            </a:avLst>
          </a:prstGeom>
          <a:solidFill>
            <a:srgbClr val="2D4A3E"/>
          </a:solidFill>
          <a:ln/>
        </p:spPr>
      </p:sp>
      <p:sp>
        <p:nvSpPr>
          <p:cNvPr id="15" name="Text 13"/>
          <p:cNvSpPr/>
          <p:nvPr/>
        </p:nvSpPr>
        <p:spPr>
          <a:xfrm>
            <a:off x="6667500" y="2119350"/>
            <a:ext cx="2921000" cy="19843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700" b="1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Low-instrumentation dataset enrichment</a:t>
            </a:r>
            <a:endParaRPr lang="en-US" sz="1600" dirty="0"/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700" b="1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Weak-label benchmark</a:t>
            </a:r>
            <a:pPr algn="ctr">
              <a:lnSpc>
                <a:spcPct val="150000"/>
              </a:lnSpc>
              <a:spcBef>
                <a:spcPts val="400"/>
              </a:spcBef>
            </a:pPr>
            <a:r>
              <a:rPr lang="en-US" sz="17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0" y="3048000"/>
            <a:ext cx="12065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9715500" y="3048000"/>
            <a:ext cx="12065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arrow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762000" y="5334000"/>
            <a:ext cx="14732000" cy="533400"/>
          </a:xfrm>
          <a:prstGeom prst="roundRect">
            <a:avLst>
              <a:gd name="adj" fmla="val 4000"/>
            </a:avLst>
          </a:prstGeom>
          <a:solidFill>
            <a:srgbClr val="2D4A3E">
              <a:alpha val="7059"/>
            </a:srgbClr>
          </a:solidFill>
          <a:ln w="12700">
            <a:solidFill>
              <a:srgbClr val="2D4A3E">
                <a:alpha val="1451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6000" y="5334000"/>
            <a:ext cx="1422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Target: pipeline làm giàu dữ liệu công khai và tạo nhãn proxy có thể kiểm chứng cho nghiên cứu điện công nghiệp.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Động cơ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Dataset · Pipeline · Kết quả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Động cơ Nghiên cứu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333500"/>
            <a:ext cx="7366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Load_Type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chỉ nói chế độ vận hành bình thường (Light / Medium / Maximum).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2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Anomaly labels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nói dấu hiệu bất thường tiềm năng 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200" i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bên trong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chế độ đó.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890000" y="1333500"/>
            <a:ext cx="6604000" cy="24765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8" name="Text 6"/>
          <p:cNvSpPr/>
          <p:nvPr/>
        </p:nvSpPr>
        <p:spPr>
          <a:xfrm>
            <a:off x="9271000" y="1524000"/>
            <a:ext cx="584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MUTUAL INFORMATION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71000" y="1968500"/>
            <a:ext cx="584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 = 0.0002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271000" y="2857500"/>
            <a:ext cx="584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Load_Type và anomaly_any gần như độc lập — dự báo Load_Type không đồng nghĩa phát hiện bất thường.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5057553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78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Ý nghĩa thiết kế nhãn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5691071"/>
            <a:ext cx="14224000" cy="2928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Cần nhãn riêng biệt cho anomaly, không thể suy ra từ Load_Type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Proxy labels (idling, leakage, overload) giúp đánh giá pipeline 1 cách xấp xỉ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Ablation study tách riêng forecasting vs. anomaly detection để đánh giá độc lập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Dataset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Pipeline · Kết quả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Tổng quan Dataset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2065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1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Nguồn: UCI Steel Industry Electricity + Open-Meteo Weather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62000" y="1714500"/>
            <a:ext cx="4572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6000" y="18415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35,040 × 11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540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electricity data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(samples × features)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1714500"/>
            <a:ext cx="4572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18415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35,040 × 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2540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resampled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(1h → 15 phút)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1714500"/>
            <a:ext cx="4572000" cy="1651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1841500"/>
            <a:ext cx="406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35,040 × 64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0" y="2540000"/>
            <a:ext cx="406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enriched dataset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3683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Data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4191000"/>
            <a:ext cx="2794000" cy="889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4191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UCI Steel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Electricity 11 cols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56000" y="4508500"/>
            <a:ext cx="6350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4191000" y="4191000"/>
            <a:ext cx="2794000" cy="889000"/>
          </a:xfrm>
          <a:prstGeom prst="roundRect">
            <a:avLst>
              <a:gd name="adj" fmla="val 8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1000" y="4191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Open-Meteo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4 cols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85000" y="4508500"/>
            <a:ext cx="6350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7620000" y="4191000"/>
            <a:ext cx="2794000" cy="889000"/>
          </a:xfrm>
          <a:prstGeom prst="roundRect">
            <a:avLst>
              <a:gd name="adj" fmla="val 8000"/>
            </a:avLst>
          </a:prstGeom>
          <a:solidFill>
            <a:srgbClr val="2D4A3E"/>
          </a:solidFill>
          <a:ln/>
        </p:spPr>
      </p:sp>
      <p:sp>
        <p:nvSpPr>
          <p:cNvPr id="24" name="Text 22"/>
          <p:cNvSpPr/>
          <p:nvPr/>
        </p:nvSpPr>
        <p:spPr>
          <a:xfrm>
            <a:off x="7620000" y="41910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Merge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35,040 × 15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414000" y="4508500"/>
            <a:ext cx="6350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11049000" y="4191000"/>
            <a:ext cx="4445000" cy="889000"/>
          </a:xfrm>
          <a:prstGeom prst="roundRect">
            <a:avLst>
              <a:gd name="adj" fmla="val 8000"/>
            </a:avLst>
          </a:prstGeom>
          <a:solidFill>
            <a:srgbClr val="C4785A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0" y="4191000"/>
            <a:ext cx="444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35,040 × 64 (final)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Kết quả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Chất lượng Dữ liệu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33500"/>
            <a:ext cx="4572000" cy="1778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70193" y="168831"/>
                </a:moveTo>
                <a:lnTo>
                  <a:pt x="206692" y="270431"/>
                </a:lnTo>
                <a:cubicBezTo>
                  <a:pt x="203359" y="275749"/>
                  <a:pt x="197644" y="279083"/>
                  <a:pt x="191373" y="279400"/>
                </a:cubicBezTo>
                <a:cubicBezTo>
                  <a:pt x="185102" y="279718"/>
                  <a:pt x="179070" y="276860"/>
                  <a:pt x="175339" y="271780"/>
                </a:cubicBezTo>
                <a:lnTo>
                  <a:pt x="137239" y="220980"/>
                </a:lnTo>
                <a:cubicBezTo>
                  <a:pt x="130889" y="212566"/>
                  <a:pt x="132636" y="200660"/>
                  <a:pt x="141049" y="194310"/>
                </a:cubicBezTo>
                <a:cubicBezTo>
                  <a:pt x="149463" y="187960"/>
                  <a:pt x="161369" y="189706"/>
                  <a:pt x="167719" y="198120"/>
                </a:cubicBezTo>
                <a:lnTo>
                  <a:pt x="189151" y="226695"/>
                </a:lnTo>
                <a:lnTo>
                  <a:pt x="237887" y="148669"/>
                </a:lnTo>
                <a:cubicBezTo>
                  <a:pt x="243443" y="139779"/>
                  <a:pt x="255191" y="137001"/>
                  <a:pt x="264160" y="142637"/>
                </a:cubicBezTo>
                <a:cubicBezTo>
                  <a:pt x="273129" y="148273"/>
                  <a:pt x="275828" y="159941"/>
                  <a:pt x="270193" y="168910"/>
                </a:cubicBezTo>
                <a:close/>
              </a:path>
            </a:pathLst>
          </a:custGeom>
          <a:solidFill>
            <a:srgbClr val="7A8B7E"/>
          </a:solidFill>
          <a:ln/>
        </p:spPr>
      </p:sp>
      <p:sp>
        <p:nvSpPr>
          <p:cNvPr id="8" name="Text 6"/>
          <p:cNvSpPr/>
          <p:nvPr/>
        </p:nvSpPr>
        <p:spPr>
          <a:xfrm>
            <a:off x="1587500" y="1460500"/>
            <a:ext cx="3492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159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Nulls after merge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missing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1333500"/>
            <a:ext cx="4572000" cy="1778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0" y="1524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1939" y="7461"/>
                </a:moveTo>
                <a:cubicBezTo>
                  <a:pt x="262017" y="-2461"/>
                  <a:pt x="245904" y="-2461"/>
                  <a:pt x="235982" y="7461"/>
                </a:cubicBezTo>
                <a:cubicBezTo>
                  <a:pt x="226060" y="17383"/>
                  <a:pt x="226060" y="33496"/>
                  <a:pt x="235982" y="43418"/>
                </a:cubicBezTo>
                <a:lnTo>
                  <a:pt x="243443" y="50800"/>
                </a:lnTo>
                <a:lnTo>
                  <a:pt x="22304" y="271939"/>
                </a:lnTo>
                <a:cubicBezTo>
                  <a:pt x="8017" y="286226"/>
                  <a:pt x="0" y="305594"/>
                  <a:pt x="0" y="325834"/>
                </a:cubicBezTo>
                <a:lnTo>
                  <a:pt x="0" y="330200"/>
                </a:lnTo>
                <a:cubicBezTo>
                  <a:pt x="0" y="372269"/>
                  <a:pt x="34131" y="406400"/>
                  <a:pt x="76200" y="406400"/>
                </a:cubicBezTo>
                <a:lnTo>
                  <a:pt x="80566" y="406400"/>
                </a:lnTo>
                <a:cubicBezTo>
                  <a:pt x="100806" y="406400"/>
                  <a:pt x="120174" y="398383"/>
                  <a:pt x="134461" y="384096"/>
                </a:cubicBezTo>
                <a:lnTo>
                  <a:pt x="355600" y="162957"/>
                </a:lnTo>
                <a:lnTo>
                  <a:pt x="363061" y="170418"/>
                </a:lnTo>
                <a:cubicBezTo>
                  <a:pt x="372983" y="180340"/>
                  <a:pt x="389096" y="180340"/>
                  <a:pt x="399018" y="170418"/>
                </a:cubicBezTo>
                <a:cubicBezTo>
                  <a:pt x="408940" y="160496"/>
                  <a:pt x="408940" y="144383"/>
                  <a:pt x="399018" y="134461"/>
                </a:cubicBezTo>
                <a:lnTo>
                  <a:pt x="272018" y="7461"/>
                </a:lnTo>
                <a:close/>
                <a:moveTo>
                  <a:pt x="162957" y="203200"/>
                </a:moveTo>
                <a:lnTo>
                  <a:pt x="279400" y="86757"/>
                </a:lnTo>
                <a:lnTo>
                  <a:pt x="319643" y="127000"/>
                </a:lnTo>
                <a:lnTo>
                  <a:pt x="243443" y="203200"/>
                </a:lnTo>
                <a:lnTo>
                  <a:pt x="162877" y="203200"/>
                </a:lnTo>
                <a:close/>
              </a:path>
            </a:pathLst>
          </a:custGeom>
          <a:solidFill>
            <a:srgbClr val="7A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0" y="1460500"/>
            <a:ext cx="3492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159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8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pytest passed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1333500"/>
            <a:ext cx="4572000" cy="1778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26800" y="1524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01600" y="76200"/>
                </a:moveTo>
                <a:lnTo>
                  <a:pt x="101600" y="127000"/>
                </a:lnTo>
                <a:lnTo>
                  <a:pt x="203200" y="127000"/>
                </a:lnTo>
                <a:lnTo>
                  <a:pt x="203200" y="76200"/>
                </a:lnTo>
                <a:cubicBezTo>
                  <a:pt x="203200" y="48181"/>
                  <a:pt x="180419" y="25400"/>
                  <a:pt x="152400" y="25400"/>
                </a:cubicBezTo>
                <a:cubicBezTo>
                  <a:pt x="124381" y="25400"/>
                  <a:pt x="101600" y="48181"/>
                  <a:pt x="101600" y="76200"/>
                </a:cubicBezTo>
                <a:close/>
                <a:moveTo>
                  <a:pt x="50800" y="127000"/>
                </a:moveTo>
                <a:lnTo>
                  <a:pt x="50800" y="76200"/>
                </a:lnTo>
                <a:cubicBezTo>
                  <a:pt x="50800" y="20082"/>
                  <a:pt x="96282" y="-25400"/>
                  <a:pt x="152400" y="-25400"/>
                </a:cubicBezTo>
                <a:cubicBezTo>
                  <a:pt x="208518" y="-25400"/>
                  <a:pt x="254000" y="20082"/>
                  <a:pt x="254000" y="76200"/>
                </a:cubicBezTo>
                <a:lnTo>
                  <a:pt x="254000" y="127000"/>
                </a:lnTo>
                <a:cubicBezTo>
                  <a:pt x="282019" y="127000"/>
                  <a:pt x="304800" y="149781"/>
                  <a:pt x="304800" y="177800"/>
                </a:cubicBezTo>
                <a:lnTo>
                  <a:pt x="304800" y="355600"/>
                </a:lnTo>
                <a:cubicBezTo>
                  <a:pt x="304800" y="383619"/>
                  <a:pt x="282019" y="406400"/>
                  <a:pt x="2540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77800"/>
                </a:lnTo>
                <a:cubicBezTo>
                  <a:pt x="0" y="149781"/>
                  <a:pt x="22781" y="127000"/>
                  <a:pt x="50800" y="127000"/>
                </a:cubicBezTo>
                <a:close/>
              </a:path>
            </a:pathLst>
          </a:custGeom>
          <a:solidFill>
            <a:srgbClr val="7A8B7E"/>
          </a:solidFill>
          <a:ln/>
        </p:spPr>
      </p:sp>
      <p:sp>
        <p:nvSpPr>
          <p:cNvPr id="16" name="Text 14"/>
          <p:cNvSpPr/>
          <p:nvPr/>
        </p:nvSpPr>
        <p:spPr>
          <a:xfrm>
            <a:off x="11747500" y="1460500"/>
            <a:ext cx="34925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0" y="2159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Row alignment 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20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future data leakage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3871722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Quality Assurance Checks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4572000"/>
            <a:ext cx="14732000" cy="2777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 giữ row alignment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timestamp matching chính xác giữa electricity và weather data sau resample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Không missing sau merge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forward-fill weather data đảm bảo đầy đủ 35,040 rows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Không dùng future data trong lag/rolling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strict causal window, chỉ dùng quá khứ để tính features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22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50 unit tests passed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pipeline được kiểm thử toàn diện với pytest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Kết quả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270000"/>
            <a:ext cx="3175000" cy="1016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1270000"/>
            <a:ext cx="317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→ 64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cột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064000" y="1651000"/>
            <a:ext cx="508000" cy="0"/>
          </a:xfrm>
          <a:prstGeom prst="straightConnector1">
            <a:avLst/>
          </a:prstGeom>
          <a:noFill/>
          <a:ln w="25400">
            <a:solidFill>
              <a:srgbClr val="7A8B7E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4699000" y="1270000"/>
            <a:ext cx="1079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Mở rộng qua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 miền feature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Time features, Weather context, Wavelet db4, Physical features (S, φ)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2603500"/>
            <a:ext cx="3429000" cy="3556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6000" y="279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12" name="Text 10"/>
          <p:cNvSpPr/>
          <p:nvPr/>
        </p:nvSpPr>
        <p:spPr>
          <a:xfrm>
            <a:off x="1422400" y="276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Thời gian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16000" y="3238500"/>
            <a:ext cx="2921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Hour of day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Day of week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Month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Is weekend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Lag features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Rolling mean/std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08500" y="2603500"/>
            <a:ext cx="3429000" cy="3556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3450" y="2794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70034" y="-8811"/>
                </a:moveTo>
                <a:cubicBezTo>
                  <a:pt x="272951" y="-7620"/>
                  <a:pt x="275094" y="-5001"/>
                  <a:pt x="275689" y="-1905"/>
                </a:cubicBezTo>
                <a:lnTo>
                  <a:pt x="285750" y="47625"/>
                </a:lnTo>
                <a:lnTo>
                  <a:pt x="335280" y="57626"/>
                </a:lnTo>
                <a:cubicBezTo>
                  <a:pt x="338376" y="58281"/>
                  <a:pt x="340935" y="60365"/>
                  <a:pt x="342186" y="63282"/>
                </a:cubicBezTo>
                <a:cubicBezTo>
                  <a:pt x="343436" y="66199"/>
                  <a:pt x="343079" y="69533"/>
                  <a:pt x="341352" y="72152"/>
                </a:cubicBezTo>
                <a:lnTo>
                  <a:pt x="313432" y="114240"/>
                </a:lnTo>
                <a:lnTo>
                  <a:pt x="341352" y="156329"/>
                </a:lnTo>
                <a:cubicBezTo>
                  <a:pt x="343079" y="158948"/>
                  <a:pt x="343436" y="162282"/>
                  <a:pt x="342186" y="165199"/>
                </a:cubicBezTo>
                <a:cubicBezTo>
                  <a:pt x="340935" y="168116"/>
                  <a:pt x="338376" y="170259"/>
                  <a:pt x="335280" y="170855"/>
                </a:cubicBezTo>
                <a:lnTo>
                  <a:pt x="298252" y="178415"/>
                </a:lnTo>
                <a:cubicBezTo>
                  <a:pt x="291167" y="173236"/>
                  <a:pt x="283309" y="169128"/>
                  <a:pt x="274796" y="166271"/>
                </a:cubicBezTo>
                <a:cubicBezTo>
                  <a:pt x="273308" y="158710"/>
                  <a:pt x="270748" y="151567"/>
                  <a:pt x="267236" y="145018"/>
                </a:cubicBezTo>
                <a:cubicBezTo>
                  <a:pt x="272891" y="136148"/>
                  <a:pt x="276225" y="125611"/>
                  <a:pt x="276225" y="114240"/>
                </a:cubicBezTo>
                <a:cubicBezTo>
                  <a:pt x="276225" y="82689"/>
                  <a:pt x="250627" y="57090"/>
                  <a:pt x="219075" y="57090"/>
                </a:cubicBezTo>
                <a:cubicBezTo>
                  <a:pt x="190560" y="57090"/>
                  <a:pt x="166926" y="77986"/>
                  <a:pt x="162639" y="105251"/>
                </a:cubicBezTo>
                <a:cubicBezTo>
                  <a:pt x="146864" y="93166"/>
                  <a:pt x="127218" y="85904"/>
                  <a:pt x="105847" y="85665"/>
                </a:cubicBezTo>
                <a:lnTo>
                  <a:pt x="96857" y="72152"/>
                </a:lnTo>
                <a:cubicBezTo>
                  <a:pt x="95131" y="69533"/>
                  <a:pt x="94774" y="66199"/>
                  <a:pt x="96024" y="63282"/>
                </a:cubicBezTo>
                <a:cubicBezTo>
                  <a:pt x="97274" y="60365"/>
                  <a:pt x="99834" y="58222"/>
                  <a:pt x="102930" y="57626"/>
                </a:cubicBezTo>
                <a:lnTo>
                  <a:pt x="152400" y="47625"/>
                </a:lnTo>
                <a:lnTo>
                  <a:pt x="162401" y="-1905"/>
                </a:lnTo>
                <a:cubicBezTo>
                  <a:pt x="163056" y="-5001"/>
                  <a:pt x="165140" y="-7560"/>
                  <a:pt x="168057" y="-8811"/>
                </a:cubicBezTo>
                <a:cubicBezTo>
                  <a:pt x="170974" y="-10061"/>
                  <a:pt x="174308" y="-9704"/>
                  <a:pt x="176927" y="-7977"/>
                </a:cubicBezTo>
                <a:lnTo>
                  <a:pt x="219075" y="20003"/>
                </a:lnTo>
                <a:lnTo>
                  <a:pt x="261164" y="-7918"/>
                </a:lnTo>
                <a:cubicBezTo>
                  <a:pt x="263783" y="-9644"/>
                  <a:pt x="267117" y="-10001"/>
                  <a:pt x="270034" y="-8751"/>
                </a:cubicBezTo>
                <a:close/>
                <a:moveTo>
                  <a:pt x="247650" y="114300"/>
                </a:moveTo>
                <a:cubicBezTo>
                  <a:pt x="247650" y="116562"/>
                  <a:pt x="247412" y="118765"/>
                  <a:pt x="246876" y="120908"/>
                </a:cubicBezTo>
                <a:cubicBezTo>
                  <a:pt x="233958" y="110788"/>
                  <a:pt x="217706" y="104775"/>
                  <a:pt x="200025" y="104775"/>
                </a:cubicBezTo>
                <a:cubicBezTo>
                  <a:pt x="197287" y="104775"/>
                  <a:pt x="194608" y="104894"/>
                  <a:pt x="191988" y="105192"/>
                </a:cubicBezTo>
                <a:cubicBezTo>
                  <a:pt x="195798" y="93881"/>
                  <a:pt x="206514" y="85725"/>
                  <a:pt x="219075" y="85725"/>
                </a:cubicBezTo>
                <a:cubicBezTo>
                  <a:pt x="234851" y="85725"/>
                  <a:pt x="247650" y="98524"/>
                  <a:pt x="247650" y="114300"/>
                </a:cubicBezTo>
                <a:close/>
                <a:moveTo>
                  <a:pt x="57150" y="304800"/>
                </a:moveTo>
                <a:cubicBezTo>
                  <a:pt x="25598" y="304800"/>
                  <a:pt x="0" y="279202"/>
                  <a:pt x="0" y="247650"/>
                </a:cubicBezTo>
                <a:cubicBezTo>
                  <a:pt x="0" y="222349"/>
                  <a:pt x="16431" y="200858"/>
                  <a:pt x="39231" y="193358"/>
                </a:cubicBezTo>
                <a:cubicBezTo>
                  <a:pt x="38457" y="189369"/>
                  <a:pt x="38100" y="185202"/>
                  <a:pt x="38100" y="180975"/>
                </a:cubicBezTo>
                <a:cubicBezTo>
                  <a:pt x="38100" y="144125"/>
                  <a:pt x="67925" y="114300"/>
                  <a:pt x="104775" y="114300"/>
                </a:cubicBezTo>
                <a:cubicBezTo>
                  <a:pt x="130433" y="114300"/>
                  <a:pt x="152698" y="128766"/>
                  <a:pt x="163830" y="150019"/>
                </a:cubicBezTo>
                <a:cubicBezTo>
                  <a:pt x="172581" y="139839"/>
                  <a:pt x="185559" y="133350"/>
                  <a:pt x="200025" y="133350"/>
                </a:cubicBezTo>
                <a:cubicBezTo>
                  <a:pt x="226338" y="133350"/>
                  <a:pt x="247650" y="154662"/>
                  <a:pt x="247650" y="180975"/>
                </a:cubicBezTo>
                <a:cubicBezTo>
                  <a:pt x="247650" y="184249"/>
                  <a:pt x="247293" y="187404"/>
                  <a:pt x="246698" y="190500"/>
                </a:cubicBezTo>
                <a:cubicBezTo>
                  <a:pt x="246995" y="190500"/>
                  <a:pt x="247352" y="190500"/>
                  <a:pt x="247650" y="190500"/>
                </a:cubicBezTo>
                <a:cubicBezTo>
                  <a:pt x="279202" y="190500"/>
                  <a:pt x="304800" y="216098"/>
                  <a:pt x="304800" y="247650"/>
                </a:cubicBezTo>
                <a:cubicBezTo>
                  <a:pt x="304800" y="279202"/>
                  <a:pt x="279202" y="304800"/>
                  <a:pt x="247650" y="304800"/>
                </a:cubicBezTo>
                <a:lnTo>
                  <a:pt x="57150" y="304800"/>
                </a:ln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16" name="Text 14"/>
          <p:cNvSpPr/>
          <p:nvPr/>
        </p:nvSpPr>
        <p:spPr>
          <a:xfrm>
            <a:off x="5168900" y="276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Thời tiết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62500" y="3238500"/>
            <a:ext cx="2921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Temperature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Humidity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Wind speed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Precipitation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(resampled 1h→15m)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55000" y="2603500"/>
            <a:ext cx="3429000" cy="3556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01600">
            <a:solidFill>
              <a:srgbClr val="D5D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9000" y="279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57150"/>
                </a:moveTo>
                <a:cubicBezTo>
                  <a:pt x="38100" y="46613"/>
                  <a:pt x="46613" y="38100"/>
                  <a:pt x="57150" y="38100"/>
                </a:cubicBezTo>
                <a:lnTo>
                  <a:pt x="152400" y="38100"/>
                </a:lnTo>
                <a:cubicBezTo>
                  <a:pt x="162937" y="38100"/>
                  <a:pt x="171450" y="46613"/>
                  <a:pt x="171450" y="57150"/>
                </a:cubicBezTo>
                <a:lnTo>
                  <a:pt x="171450" y="228600"/>
                </a:lnTo>
                <a:lnTo>
                  <a:pt x="228600" y="228600"/>
                </a:lnTo>
                <a:lnTo>
                  <a:pt x="228600" y="152400"/>
                </a:lnTo>
                <a:cubicBezTo>
                  <a:pt x="228600" y="141863"/>
                  <a:pt x="237113" y="133350"/>
                  <a:pt x="247650" y="133350"/>
                </a:cubicBezTo>
                <a:lnTo>
                  <a:pt x="285750" y="133350"/>
                </a:lnTo>
                <a:cubicBezTo>
                  <a:pt x="296287" y="133350"/>
                  <a:pt x="304800" y="141863"/>
                  <a:pt x="304800" y="152400"/>
                </a:cubicBezTo>
                <a:cubicBezTo>
                  <a:pt x="304800" y="162937"/>
                  <a:pt x="296287" y="171450"/>
                  <a:pt x="285750" y="171450"/>
                </a:cubicBezTo>
                <a:lnTo>
                  <a:pt x="266700" y="171450"/>
                </a:lnTo>
                <a:lnTo>
                  <a:pt x="266700" y="247650"/>
                </a:lnTo>
                <a:cubicBezTo>
                  <a:pt x="266700" y="258187"/>
                  <a:pt x="258187" y="266700"/>
                  <a:pt x="247650" y="266700"/>
                </a:cubicBezTo>
                <a:lnTo>
                  <a:pt x="152400" y="266700"/>
                </a:lnTo>
                <a:cubicBezTo>
                  <a:pt x="141863" y="266700"/>
                  <a:pt x="133350" y="258187"/>
                  <a:pt x="133350" y="247650"/>
                </a:cubicBezTo>
                <a:lnTo>
                  <a:pt x="133350" y="76200"/>
                </a:lnTo>
                <a:lnTo>
                  <a:pt x="76200" y="76200"/>
                </a:lnTo>
                <a:lnTo>
                  <a:pt x="76200" y="152400"/>
                </a:lnTo>
                <a:cubicBezTo>
                  <a:pt x="76200" y="162937"/>
                  <a:pt x="67687" y="171450"/>
                  <a:pt x="57150" y="171450"/>
                </a:cubicBezTo>
                <a:lnTo>
                  <a:pt x="19050" y="171450"/>
                </a:lnTo>
                <a:cubicBezTo>
                  <a:pt x="8513" y="171450"/>
                  <a:pt x="0" y="162937"/>
                  <a:pt x="0" y="152400"/>
                </a:cubicBezTo>
                <a:cubicBezTo>
                  <a:pt x="0" y="141863"/>
                  <a:pt x="8513" y="133350"/>
                  <a:pt x="19050" y="133350"/>
                </a:cubicBezTo>
                <a:lnTo>
                  <a:pt x="38100" y="133350"/>
                </a:lnTo>
                <a:lnTo>
                  <a:pt x="38100" y="57150"/>
                </a:ln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20" name="Text 18"/>
          <p:cNvSpPr/>
          <p:nvPr/>
        </p:nvSpPr>
        <p:spPr>
          <a:xfrm>
            <a:off x="8915400" y="276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Wavelet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9000" y="3238500"/>
            <a:ext cx="2921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Wavelet db4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Approximation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Detail coefficients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Multi-level decomposition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001500" y="2603500"/>
            <a:ext cx="3492500" cy="3556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274550" y="2794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24" name="Text 22"/>
          <p:cNvSpPr/>
          <p:nvPr/>
        </p:nvSpPr>
        <p:spPr>
          <a:xfrm>
            <a:off x="12661900" y="2768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Vật lý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55500" y="3238500"/>
            <a:ext cx="29845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Apparent power (S)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Power factor (φ)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Derived from U, I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Electrical domain knowledge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Pipeline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Kết quả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Proxy Labeling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206500"/>
            <a:ext cx="147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weak/proxy labels: </a:t>
            </a:r>
            <a:pPr>
              <a:lnSpc>
                <a:spcPct val="160000"/>
              </a:lnSpc>
            </a:pPr>
            <a:r>
              <a:rPr lang="en-US" sz="22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idling, leakage, overload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chuẩn hóa rule, confidence score và explanation.</a:t>
            </a:r>
            <a:pPr>
              <a:lnSpc>
                <a:spcPct val="160000"/>
              </a:lnSpc>
            </a:pPr>
            <a:r>
              <a:rPr lang="en-US" sz="2200" b="1" dirty="0">
                <a:solidFill>
                  <a:srgbClr val="C4785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Không phải ground truth lỗi thật.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0" y="4663252"/>
          <a:ext cx="6604000" cy="292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08/15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5200" y="2555925"/>
            <a:ext cx="3184953" cy="4424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Suspected Idling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70144" y="2998401"/>
            <a:ext cx="2325016" cy="31253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Load_Type = Light_Load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Usage_kWh cao hơn median theo ngữ cảnh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Power factor thấp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464990" y="2555925"/>
            <a:ext cx="3184953" cy="44247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Suspected_Overload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36109" y="2998401"/>
            <a:ext cx="2325016" cy="29425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•Usage_kWh &gt; P99.5 &amp; Q_Lag &gt; P99.5 | Power Factor &lt; 0.7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Power factor thấp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Cho phép dị biệt điể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352389" y="2555925"/>
            <a:ext cx="3551223" cy="828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Suspected_Leakage_Drift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061125" y="3041690"/>
            <a:ext cx="7620000" cy="12965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Rolling mean Usage_kWh vượt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tuần đầu hơn 5%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Kéo dài ≥ 4 bước = 1 giờ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Pipeline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Kết quả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Load_Type vs Anomaly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206500"/>
            <a:ext cx="147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Maximum_Load không đồng nghĩa bất thường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Light_Load không đồng nghĩa an toàn. Leakage trải đều, overload tập trung ở Maximum_Load, idling chỉ ở Light_Load.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2000" y="21844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2: Anomaly Rate by Load_Type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40000"/>
          <a:ext cx="6858000" cy="2286000"/>
        </p:xfrm>
        <a:graphic>
          <a:graphicData uri="http://schemas.openxmlformats.org/drawingml/2006/table">
            <a:tbl>
              <a:tblPr/>
              <a:tblGrid>
                <a:gridCol w="2057400"/>
                <a:gridCol w="1714500"/>
                <a:gridCol w="1714500"/>
                <a:gridCol w="13716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Load_Type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Anomaly Rate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Pattern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Light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6.336%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18,072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Idling + Leakage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7.189%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9,696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Leakage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AE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Maximum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7.508%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85A">
                        <a:alpha val="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7,272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Overload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785A">
                        <a:alpha val="9000"/>
                      </a:srgb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0" descr=""/>
          <p:cNvGraphicFramePr/>
          <p:nvPr/>
        </p:nvGraphicFramePr>
        <p:xfrm>
          <a:off x="8128000" y="2184400"/>
          <a:ext cx="7366000" cy="2667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6"/>
          <p:cNvSpPr/>
          <p:nvPr/>
        </p:nvSpPr>
        <p:spPr>
          <a:xfrm>
            <a:off x="762000" y="5080000"/>
            <a:ext cx="14732000" cy="698500"/>
          </a:xfrm>
          <a:prstGeom prst="roundRect">
            <a:avLst>
              <a:gd name="adj" fmla="val 4000"/>
            </a:avLst>
          </a:prstGeom>
          <a:solidFill>
            <a:srgbClr val="2D4A3E">
              <a:alpha val="7059"/>
            </a:srgbClr>
          </a:solidFill>
          <a:ln w="12700">
            <a:solidFill>
              <a:srgbClr val="2D4A3E">
                <a:alpha val="1451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16000" y="5080000"/>
            <a:ext cx="1422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Tỷ lệ anomaly gần như đều (~6.3-7.5%) xuyên suốt 3 chế độ tải, chứng tỏ Load_Type không phải proxy tốt cho anomaly. Cần nhãn riêng biệt.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Pipeline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Kết quả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Ablation: Forecasting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206500"/>
            <a:ext cx="147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34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Target: </a:t>
            </a:r>
            <a:pPr>
              <a:lnSpc>
                <a:spcPct val="160000"/>
              </a:lnSpc>
            </a:pPr>
            <a:r>
              <a:rPr lang="en-US" sz="34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Usage_kWh(t+1h)</a:t>
            </a:r>
            <a:pPr>
              <a:lnSpc>
                <a:spcPct val="160000"/>
              </a:lnSpc>
            </a:pPr>
            <a:r>
              <a:rPr lang="en-US" sz="34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Time features là đóng góp rõ nhất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62000" y="2222500"/>
          <a:ext cx="8636000" cy="368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9906000" y="2222500"/>
            <a:ext cx="5588000" cy="36830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60000" y="23876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0" y="2743200"/>
            <a:ext cx="508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900" b="1" dirty="0">
                <a:solidFill>
                  <a:srgbClr val="C478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 features</a:t>
            </a:r>
            <a:pPr>
              <a:lnSpc>
                <a:spcPct val="160000"/>
              </a:lnSpc>
            </a:pPr>
            <a:r>
              <a:rPr lang="en-US" sz="19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giảm RMSE nhiều nhất: 13.01 → 12.01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9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features không tốt hơn Time-only,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9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overfit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9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Pipeline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Kết quả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Ablation: Proxy Anomaly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206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Time + Weather tốt nhất trong full track, nhưng </a:t>
            </a:r>
            <a:pPr>
              <a:lnSpc>
                <a:spcPct val="160000"/>
              </a:lnSpc>
            </a:pPr>
            <a:r>
              <a:rPr lang="en-US" sz="2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rule-free rất thấp</a:t>
            </a:r>
            <a:pPr>
              <a:lnSpc>
                <a:spcPct val="160000"/>
              </a:lnSpc>
            </a:pPr>
            <a:r>
              <a:rPr lang="en-US" sz="2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62000" y="2032000"/>
          <a:ext cx="8636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9906000" y="2032000"/>
            <a:ext cx="5588000" cy="3810000"/>
          </a:xfrm>
          <a:prstGeom prst="roundRect">
            <a:avLst>
              <a:gd name="adj" fmla="val 5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160000" y="222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Findings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0" y="2651495"/>
            <a:ext cx="508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300" b="1" dirty="0">
                <a:solidFill>
                  <a:srgbClr val="C478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 Time và Weather</a:t>
            </a:r>
            <a:pPr>
              <a:lnSpc>
                <a:spcPct val="160000"/>
              </a:lnSpc>
            </a:pPr>
            <a:r>
              <a:rPr lang="en-US" sz="2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tốt nhất: PR-AUC = 0.364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3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Rule-free max: 0.0178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2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rất thấp, cho thấy cần domain rules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23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giúp. nhưng chưa đủ.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Pipeline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Kết quả</a:t>
            </a:r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· 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GAN Validation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62000" y="12065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 </a:t>
            </a:r>
            <a:pPr>
              <a:lnSpc>
                <a:spcPct val="160000"/>
              </a:lnSpc>
            </a:pPr>
            <a:r>
              <a:rPr lang="en-US" sz="22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Cân bằng lớp anomaly proxy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không dùng làm bằng chứng lỗi thật.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159000"/>
            <a:ext cx="2794000" cy="1524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22606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2,388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29464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Minority rows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37000" y="2159000"/>
            <a:ext cx="2794000" cy="1524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7000" y="22606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7000" y="29464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Synthetic samples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12000" y="2159000"/>
            <a:ext cx="2794000" cy="1524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12000" y="22606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C478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8.20%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2000" y="29464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error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287000" y="2159000"/>
            <a:ext cx="2794000" cy="1524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87000" y="22606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3.81%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287000" y="2946400"/>
            <a:ext cx="279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Std error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3462000" y="2159000"/>
            <a:ext cx="2032000" cy="1524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462000" y="22606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C478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0.116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462000" y="29464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" y="41910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C4785A">
              <a:alpha val="6275"/>
            </a:srgbClr>
          </a:solidFill>
          <a:ln w="12700">
            <a:solidFill>
              <a:srgbClr val="C4785A">
                <a:alpha val="18824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6000" y="4191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C478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Đánh giá GAN Synthetic Data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45974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và Std khá gần</a:t>
            </a:r>
            <a:pPr>
              <a:lnSpc>
                <a:spcPct val="160000"/>
              </a:lnSpc>
            </a:pPr>
            <a:r>
              <a:rPr lang="en-US" sz="2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(error &lt; 10%) → synthetic data bắt chước phân phối margin tốt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60000"/>
              </a:lnSpc>
            </a:pPr>
            <a:r>
              <a:rPr lang="en-US" sz="21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MAE = 0.116</a:t>
            </a:r>
            <a:pPr>
              <a:lnSpc>
                <a:spcPct val="160000"/>
              </a:lnSpc>
            </a:pPr>
            <a:r>
              <a:rPr lang="en-US" sz="21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còn sai lệch trong cấu trúc tương quan giữa các feature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Pipeline · Kết quả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Hạn chế &amp; Rủi ro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112000" cy="1587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60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348" y="57150"/>
                </a:moveTo>
                <a:lnTo>
                  <a:pt x="19348" y="146149"/>
                </a:lnTo>
                <a:cubicBezTo>
                  <a:pt x="19348" y="156270"/>
                  <a:pt x="23336" y="165973"/>
                  <a:pt x="30480" y="173117"/>
                </a:cubicBezTo>
                <a:lnTo>
                  <a:pt x="144780" y="287417"/>
                </a:lnTo>
                <a:cubicBezTo>
                  <a:pt x="159663" y="302300"/>
                  <a:pt x="183773" y="302300"/>
                  <a:pt x="198656" y="287417"/>
                </a:cubicBezTo>
                <a:lnTo>
                  <a:pt x="287655" y="198418"/>
                </a:lnTo>
                <a:cubicBezTo>
                  <a:pt x="302538" y="183535"/>
                  <a:pt x="302538" y="159425"/>
                  <a:pt x="287655" y="144542"/>
                </a:cubicBezTo>
                <a:lnTo>
                  <a:pt x="173355" y="30242"/>
                </a:lnTo>
                <a:cubicBezTo>
                  <a:pt x="166211" y="23039"/>
                  <a:pt x="156567" y="19050"/>
                  <a:pt x="146447" y="19050"/>
                </a:cubicBezTo>
                <a:lnTo>
                  <a:pt x="57448" y="19050"/>
                </a:lnTo>
                <a:cubicBezTo>
                  <a:pt x="36433" y="19050"/>
                  <a:pt x="19348" y="36135"/>
                  <a:pt x="19348" y="57150"/>
                </a:cubicBezTo>
                <a:close/>
                <a:moveTo>
                  <a:pt x="86023" y="66675"/>
                </a:moveTo>
                <a:cubicBezTo>
                  <a:pt x="96537" y="66675"/>
                  <a:pt x="105073" y="75211"/>
                  <a:pt x="105073" y="85725"/>
                </a:cubicBezTo>
                <a:cubicBezTo>
                  <a:pt x="105073" y="96239"/>
                  <a:pt x="96537" y="104775"/>
                  <a:pt x="86023" y="104775"/>
                </a:cubicBezTo>
                <a:cubicBezTo>
                  <a:pt x="75509" y="104775"/>
                  <a:pt x="66973" y="96239"/>
                  <a:pt x="66973" y="85725"/>
                </a:cubicBezTo>
                <a:cubicBezTo>
                  <a:pt x="66973" y="75211"/>
                  <a:pt x="75509" y="66675"/>
                  <a:pt x="86023" y="66675"/>
                </a:cubicBez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15621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có SCADA / Maintenance labels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066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Proxy labels không thể validate bằng ground truth lỗi thật. Kết quả anomaly detection chỉ là benchmark tương đối.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397000"/>
            <a:ext cx="7112000" cy="1587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360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8513" y="19050"/>
                  <a:pt x="0" y="27563"/>
                  <a:pt x="0" y="38100"/>
                </a:cubicBezTo>
                <a:lnTo>
                  <a:pt x="0" y="257175"/>
                </a:lnTo>
                <a:cubicBezTo>
                  <a:pt x="0" y="272951"/>
                  <a:pt x="12799" y="285750"/>
                  <a:pt x="285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90607"/>
                </a:lnTo>
                <a:cubicBezTo>
                  <a:pt x="304800" y="79772"/>
                  <a:pt x="293251" y="72926"/>
                  <a:pt x="283726" y="78045"/>
                </a:cubicBezTo>
                <a:lnTo>
                  <a:pt x="190500" y="128230"/>
                </a:lnTo>
                <a:lnTo>
                  <a:pt x="190500" y="90607"/>
                </a:lnTo>
                <a:cubicBezTo>
                  <a:pt x="190500" y="79772"/>
                  <a:pt x="178951" y="72926"/>
                  <a:pt x="169426" y="78045"/>
                </a:cubicBezTo>
                <a:lnTo>
                  <a:pt x="76200" y="128230"/>
                </a:lnTo>
                <a:lnTo>
                  <a:pt x="76200" y="38100"/>
                </a:lnTo>
                <a:cubicBezTo>
                  <a:pt x="76200" y="27563"/>
                  <a:pt x="67687" y="19050"/>
                  <a:pt x="57150" y="19050"/>
                </a:cubicBezTo>
                <a:lnTo>
                  <a:pt x="19050" y="19050"/>
                </a:ln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12" name="Text 10"/>
          <p:cNvSpPr/>
          <p:nvPr/>
        </p:nvSpPr>
        <p:spPr>
          <a:xfrm>
            <a:off x="9067800" y="15621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Chỉ 1 nhà máy thép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006600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Khái quát hóa cho các nhà máy khác cần thận trọng. Pattern tiêu thụ điện có thể khác biệt theo quy mô và công nghệ.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260746"/>
            <a:ext cx="7112000" cy="1587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5200" y="5371423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0" y="200025"/>
                </a:moveTo>
                <a:cubicBezTo>
                  <a:pt x="0" y="247352"/>
                  <a:pt x="38398" y="285750"/>
                  <a:pt x="85725" y="285750"/>
                </a:cubicBezTo>
                <a:lnTo>
                  <a:pt x="266700" y="285750"/>
                </a:lnTo>
                <a:cubicBezTo>
                  <a:pt x="308789" y="285750"/>
                  <a:pt x="342900" y="251639"/>
                  <a:pt x="342900" y="209550"/>
                </a:cubicBezTo>
                <a:cubicBezTo>
                  <a:pt x="342900" y="178832"/>
                  <a:pt x="324743" y="152340"/>
                  <a:pt x="298549" y="140315"/>
                </a:cubicBezTo>
                <a:cubicBezTo>
                  <a:pt x="302538" y="132517"/>
                  <a:pt x="304800" y="123646"/>
                  <a:pt x="304800" y="114300"/>
                </a:cubicBezTo>
                <a:cubicBezTo>
                  <a:pt x="304800" y="82748"/>
                  <a:pt x="279202" y="57150"/>
                  <a:pt x="247650" y="57150"/>
                </a:cubicBezTo>
                <a:cubicBezTo>
                  <a:pt x="237113" y="57150"/>
                  <a:pt x="227290" y="60007"/>
                  <a:pt x="218837" y="64949"/>
                </a:cubicBezTo>
                <a:cubicBezTo>
                  <a:pt x="204490" y="37683"/>
                  <a:pt x="175855" y="19050"/>
                  <a:pt x="142875" y="19050"/>
                </a:cubicBezTo>
                <a:cubicBezTo>
                  <a:pt x="95548" y="19050"/>
                  <a:pt x="57150" y="57448"/>
                  <a:pt x="57150" y="104775"/>
                </a:cubicBezTo>
                <a:cubicBezTo>
                  <a:pt x="57150" y="109537"/>
                  <a:pt x="57567" y="114240"/>
                  <a:pt x="58281" y="118765"/>
                </a:cubicBezTo>
                <a:cubicBezTo>
                  <a:pt x="24408" y="130195"/>
                  <a:pt x="0" y="162282"/>
                  <a:pt x="0" y="200025"/>
                </a:cubicBez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" y="5371423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Weather theo tọa độ, không phải on-site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5727023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Dữ liệu thời tiết từ Open-Meteo dựa trên tọa độ địa lý, có thể sai lệch so với điều kiện thực tế tại nhà máy.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45699" y="5260746"/>
            <a:ext cx="7112000" cy="15875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36000" y="5371423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20" name="Text 18"/>
          <p:cNvSpPr/>
          <p:nvPr/>
        </p:nvSpPr>
        <p:spPr>
          <a:xfrm>
            <a:off x="9067800" y="5371423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Không dùng cho điều khiển real-time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88400" y="5641746"/>
            <a:ext cx="660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Proxy labels phụ thuộc rule heuristic. Pipeline thiết kế cho offline analytics và benchmark, không phải safety-critical control.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2D4A3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0"/>
            <a:ext cx="14732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Vấn đề · Gap Analysis · Động cơ · Dataset · Pipeline · Kết quả · </a:t>
            </a:r>
            <a:pPr algn="ctr">
              <a:lnSpc>
                <a:spcPct val="12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Kết luận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62000" y="635000"/>
            <a:ext cx="50800" cy="3556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5" name="Text 3"/>
          <p:cNvSpPr/>
          <p:nvPr/>
        </p:nvSpPr>
        <p:spPr>
          <a:xfrm>
            <a:off x="965200" y="584200"/>
            <a:ext cx="762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4A3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Đóng góp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62000" y="1397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7" name="Shape 5"/>
          <p:cNvSpPr/>
          <p:nvPr/>
        </p:nvSpPr>
        <p:spPr>
          <a:xfrm>
            <a:off x="1038225" y="16256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66675"/>
                </a:moveTo>
                <a:lnTo>
                  <a:pt x="266700" y="111125"/>
                </a:lnTo>
                <a:lnTo>
                  <a:pt x="222250" y="111125"/>
                </a:lnTo>
                <a:lnTo>
                  <a:pt x="222250" y="66675"/>
                </a:lnTo>
                <a:lnTo>
                  <a:pt x="266700" y="66675"/>
                </a:lnTo>
                <a:close/>
                <a:moveTo>
                  <a:pt x="266700" y="155575"/>
                </a:moveTo>
                <a:lnTo>
                  <a:pt x="266700" y="200025"/>
                </a:lnTo>
                <a:lnTo>
                  <a:pt x="222250" y="200025"/>
                </a:lnTo>
                <a:lnTo>
                  <a:pt x="222250" y="155575"/>
                </a:lnTo>
                <a:lnTo>
                  <a:pt x="266700" y="155575"/>
                </a:lnTo>
                <a:close/>
                <a:moveTo>
                  <a:pt x="266700" y="244475"/>
                </a:moveTo>
                <a:lnTo>
                  <a:pt x="266700" y="288925"/>
                </a:lnTo>
                <a:lnTo>
                  <a:pt x="222250" y="288925"/>
                </a:lnTo>
                <a:lnTo>
                  <a:pt x="222250" y="244475"/>
                </a:lnTo>
                <a:lnTo>
                  <a:pt x="266700" y="244475"/>
                </a:lnTo>
                <a:close/>
                <a:moveTo>
                  <a:pt x="177800" y="200025"/>
                </a:moveTo>
                <a:lnTo>
                  <a:pt x="133350" y="200025"/>
                </a:lnTo>
                <a:lnTo>
                  <a:pt x="133350" y="155575"/>
                </a:lnTo>
                <a:lnTo>
                  <a:pt x="177800" y="155575"/>
                </a:lnTo>
                <a:lnTo>
                  <a:pt x="177800" y="200025"/>
                </a:lnTo>
                <a:close/>
                <a:moveTo>
                  <a:pt x="133350" y="244475"/>
                </a:moveTo>
                <a:lnTo>
                  <a:pt x="177800" y="244475"/>
                </a:lnTo>
                <a:lnTo>
                  <a:pt x="177800" y="288925"/>
                </a:lnTo>
                <a:lnTo>
                  <a:pt x="133350" y="288925"/>
                </a:lnTo>
                <a:lnTo>
                  <a:pt x="133350" y="244475"/>
                </a:lnTo>
                <a:close/>
                <a:moveTo>
                  <a:pt x="88900" y="200025"/>
                </a:moveTo>
                <a:lnTo>
                  <a:pt x="44450" y="200025"/>
                </a:lnTo>
                <a:lnTo>
                  <a:pt x="44450" y="155575"/>
                </a:lnTo>
                <a:lnTo>
                  <a:pt x="88900" y="155575"/>
                </a:lnTo>
                <a:lnTo>
                  <a:pt x="88900" y="200025"/>
                </a:lnTo>
                <a:close/>
                <a:moveTo>
                  <a:pt x="44450" y="244475"/>
                </a:moveTo>
                <a:lnTo>
                  <a:pt x="88900" y="244475"/>
                </a:lnTo>
                <a:lnTo>
                  <a:pt x="88900" y="288925"/>
                </a:ln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44450" y="111125"/>
                </a:moveTo>
                <a:lnTo>
                  <a:pt x="44450" y="66675"/>
                </a:lnTo>
                <a:lnTo>
                  <a:pt x="88900" y="66675"/>
                </a:lnTo>
                <a:lnTo>
                  <a:pt x="88900" y="111125"/>
                </a:lnTo>
                <a:lnTo>
                  <a:pt x="44450" y="111125"/>
                </a:lnTo>
                <a:close/>
                <a:moveTo>
                  <a:pt x="133350" y="111125"/>
                </a:moveTo>
                <a:lnTo>
                  <a:pt x="133350" y="66675"/>
                </a:lnTo>
                <a:lnTo>
                  <a:pt x="177800" y="66675"/>
                </a:lnTo>
                <a:lnTo>
                  <a:pt x="177800" y="111125"/>
                </a:lnTo>
                <a:lnTo>
                  <a:pt x="133350" y="111125"/>
                </a:lnTo>
                <a:close/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</a:path>
            </a:pathLst>
          </a:custGeom>
          <a:solidFill>
            <a:srgbClr val="7A8B7E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1587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Enrichment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095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 → 64 cột qua feature engineering có hệ thống. Pipeline làm giàu dữ liệu công khai với ngữ cảnh vật lý và thời tiết.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1397000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2D4A3E"/>
          </a:solidFill>
          <a:ln/>
        </p:spPr>
      </p:sp>
      <p:sp>
        <p:nvSpPr>
          <p:cNvPr id="11" name="Shape 9"/>
          <p:cNvSpPr/>
          <p:nvPr/>
        </p:nvSpPr>
        <p:spPr>
          <a:xfrm>
            <a:off x="8613775" y="1625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78646" y="27156"/>
                </a:moveTo>
                <a:lnTo>
                  <a:pt x="381575" y="131544"/>
                </a:lnTo>
                <a:cubicBezTo>
                  <a:pt x="400814" y="151061"/>
                  <a:pt x="400814" y="182314"/>
                  <a:pt x="381575" y="201831"/>
                </a:cubicBezTo>
                <a:lnTo>
                  <a:pt x="272951" y="311775"/>
                </a:lnTo>
                <a:cubicBezTo>
                  <a:pt x="266492" y="318304"/>
                  <a:pt x="255935" y="318373"/>
                  <a:pt x="249406" y="311914"/>
                </a:cubicBezTo>
                <a:cubicBezTo>
                  <a:pt x="242878" y="305455"/>
                  <a:pt x="242808" y="294898"/>
                  <a:pt x="249267" y="288369"/>
                </a:cubicBezTo>
                <a:lnTo>
                  <a:pt x="357892" y="178356"/>
                </a:lnTo>
                <a:cubicBezTo>
                  <a:pt x="364282" y="171896"/>
                  <a:pt x="364282" y="161409"/>
                  <a:pt x="357892" y="154950"/>
                </a:cubicBezTo>
                <a:lnTo>
                  <a:pt x="254893" y="50631"/>
                </a:lnTo>
                <a:cubicBezTo>
                  <a:pt x="248434" y="44103"/>
                  <a:pt x="248503" y="33546"/>
                  <a:pt x="255032" y="27087"/>
                </a:cubicBezTo>
                <a:cubicBezTo>
                  <a:pt x="261560" y="20628"/>
                  <a:pt x="272117" y="20697"/>
                  <a:pt x="278576" y="27226"/>
                </a:cubicBezTo>
                <a:close/>
                <a:moveTo>
                  <a:pt x="22294" y="159395"/>
                </a:moveTo>
                <a:lnTo>
                  <a:pt x="22294" y="66675"/>
                </a:lnTo>
                <a:cubicBezTo>
                  <a:pt x="22294" y="42158"/>
                  <a:pt x="42228" y="22225"/>
                  <a:pt x="66744" y="22225"/>
                </a:cubicBezTo>
                <a:lnTo>
                  <a:pt x="159464" y="22225"/>
                </a:lnTo>
                <a:cubicBezTo>
                  <a:pt x="171271" y="22225"/>
                  <a:pt x="182592" y="26878"/>
                  <a:pt x="190927" y="35213"/>
                </a:cubicBezTo>
                <a:lnTo>
                  <a:pt x="290939" y="135225"/>
                </a:lnTo>
                <a:cubicBezTo>
                  <a:pt x="308302" y="152589"/>
                  <a:pt x="308302" y="180717"/>
                  <a:pt x="290939" y="198080"/>
                </a:cubicBezTo>
                <a:lnTo>
                  <a:pt x="198219" y="290800"/>
                </a:lnTo>
                <a:cubicBezTo>
                  <a:pt x="180856" y="308164"/>
                  <a:pt x="152727" y="308164"/>
                  <a:pt x="135364" y="290800"/>
                </a:cubicBezTo>
                <a:lnTo>
                  <a:pt x="35352" y="190788"/>
                </a:lnTo>
                <a:cubicBezTo>
                  <a:pt x="27017" y="182453"/>
                  <a:pt x="22364" y="171133"/>
                  <a:pt x="22364" y="159325"/>
                </a:cubicBezTo>
                <a:close/>
                <a:moveTo>
                  <a:pt x="122307" y="100013"/>
                </a:moveTo>
                <a:cubicBezTo>
                  <a:pt x="122307" y="87746"/>
                  <a:pt x="112348" y="77788"/>
                  <a:pt x="100082" y="77788"/>
                </a:cubicBezTo>
                <a:cubicBezTo>
                  <a:pt x="87816" y="77788"/>
                  <a:pt x="77857" y="87746"/>
                  <a:pt x="77857" y="100013"/>
                </a:cubicBezTo>
                <a:cubicBezTo>
                  <a:pt x="77857" y="112279"/>
                  <a:pt x="87816" y="122238"/>
                  <a:pt x="100082" y="122238"/>
                </a:cubicBezTo>
                <a:cubicBezTo>
                  <a:pt x="112348" y="122238"/>
                  <a:pt x="122307" y="112279"/>
                  <a:pt x="122307" y="100013"/>
                </a:cubicBezTo>
                <a:close/>
              </a:path>
            </a:pathLst>
          </a:custGeom>
          <a:solidFill>
            <a:srgbClr val="7A8B7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1587500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Weak / Proxy Labeling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095500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B8C4B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Hệ thống nhãn proxy (idling, leakage, overload) với guideline chuẩn hóa, confidence score và explanation.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165397"/>
            <a:ext cx="7112000" cy="1635075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8225" y="5418998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00025" y="0"/>
                </a:moveTo>
                <a:lnTo>
                  <a:pt x="88900" y="0"/>
                </a:lnTo>
                <a:cubicBezTo>
                  <a:pt x="76607" y="0"/>
                  <a:pt x="66675" y="9932"/>
                  <a:pt x="66675" y="22225"/>
                </a:cubicBezTo>
                <a:cubicBezTo>
                  <a:pt x="66675" y="34518"/>
                  <a:pt x="76607" y="44450"/>
                  <a:pt x="88900" y="44450"/>
                </a:cubicBezTo>
                <a:lnTo>
                  <a:pt x="88900" y="149671"/>
                </a:lnTo>
                <a:lnTo>
                  <a:pt x="5209" y="296079"/>
                </a:lnTo>
                <a:cubicBezTo>
                  <a:pt x="1806" y="302121"/>
                  <a:pt x="0" y="308858"/>
                  <a:pt x="0" y="315803"/>
                </a:cubicBezTo>
                <a:cubicBezTo>
                  <a:pt x="0" y="337820"/>
                  <a:pt x="17780" y="355600"/>
                  <a:pt x="39797" y="355600"/>
                </a:cubicBezTo>
                <a:lnTo>
                  <a:pt x="271353" y="355600"/>
                </a:lnTo>
                <a:cubicBezTo>
                  <a:pt x="293301" y="355600"/>
                  <a:pt x="311150" y="337820"/>
                  <a:pt x="311150" y="315803"/>
                </a:cubicBezTo>
                <a:cubicBezTo>
                  <a:pt x="311150" y="308858"/>
                  <a:pt x="309344" y="302052"/>
                  <a:pt x="305941" y="296079"/>
                </a:cubicBezTo>
                <a:lnTo>
                  <a:pt x="222250" y="149671"/>
                </a:lnTo>
                <a:lnTo>
                  <a:pt x="222250" y="44450"/>
                </a:lnTo>
                <a:cubicBezTo>
                  <a:pt x="234543" y="44450"/>
                  <a:pt x="244475" y="34518"/>
                  <a:pt x="244475" y="22225"/>
                </a:cubicBezTo>
                <a:cubicBezTo>
                  <a:pt x="244475" y="9932"/>
                  <a:pt x="234543" y="0"/>
                  <a:pt x="222250" y="0"/>
                </a:cubicBezTo>
                <a:lnTo>
                  <a:pt x="200025" y="0"/>
                </a:lnTo>
                <a:close/>
                <a:moveTo>
                  <a:pt x="133350" y="149671"/>
                </a:moveTo>
                <a:lnTo>
                  <a:pt x="133350" y="44450"/>
                </a:lnTo>
                <a:lnTo>
                  <a:pt x="177800" y="44450"/>
                </a:lnTo>
                <a:lnTo>
                  <a:pt x="177800" y="149671"/>
                </a:lnTo>
                <a:cubicBezTo>
                  <a:pt x="177800" y="157381"/>
                  <a:pt x="179814" y="165021"/>
                  <a:pt x="183634" y="171758"/>
                </a:cubicBezTo>
                <a:lnTo>
                  <a:pt x="212527" y="222250"/>
                </a:lnTo>
                <a:lnTo>
                  <a:pt x="98623" y="222250"/>
                </a:lnTo>
                <a:lnTo>
                  <a:pt x="127516" y="171758"/>
                </a:lnTo>
                <a:cubicBezTo>
                  <a:pt x="131336" y="165021"/>
                  <a:pt x="133350" y="157450"/>
                  <a:pt x="133350" y="149671"/>
                </a:cubicBez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5418998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Ablation Study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5200" y="5799998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Tách biệt đánh giá forecasting vs. proxy anomaly vs. rule-free, làm rõ giá trị của từng nhóm feature.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45699" y="5165397"/>
            <a:ext cx="7112000" cy="1651000"/>
          </a:xfrm>
          <a:prstGeom prst="roundRect">
            <a:avLst>
              <a:gd name="adj" fmla="val 6000"/>
            </a:avLst>
          </a:prstGeom>
          <a:solidFill>
            <a:srgbClr val="EDEAE5"/>
          </a:solidFill>
          <a:ln w="12700">
            <a:solidFill>
              <a:srgbClr val="D5D0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85200" y="5241198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C4785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5228498"/>
            <a:ext cx="609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4A3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CODEBOOK + Datasheet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85200" y="5657472"/>
            <a:ext cx="660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Testable pipeline với 50 unit tests, codebook đầy đủ, và datasheet mô tả dataset theo chuẩn reproducible research.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986000" y="8699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300" dirty="0">
                <a:solidFill>
                  <a:srgbClr val="7A8B7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14/15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gradFill rotWithShape="1" flip="none">
          <a:gsLst>
            <a:gs pos="0">
              <a:srgbClr val="1A2F28"/>
            </a:gs>
            <a:gs pos="60000">
              <a:srgbClr val="2D4A3E"/>
            </a:gs>
            <a:gs pos="100000">
              <a:srgbClr val="3D5A4E"/>
            </a:gs>
          </a:gsLst>
          <a:lin ang="81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1524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40000"/>
            <a:ext cx="2540000" cy="38100"/>
          </a:xfrm>
          <a:prstGeom prst="rect">
            <a:avLst/>
          </a:prstGeom>
          <a:solidFill>
            <a:srgbClr val="C4785A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3331232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Thank you for listening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223000" y="5842000"/>
            <a:ext cx="3810000" cy="12700"/>
          </a:xfrm>
          <a:prstGeom prst="rect">
            <a:avLst/>
          </a:prstGeom>
          <a:solidFill>
            <a:srgbClr val="7A8B7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4785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Electrimight - From Raw Meter Logs to Auditable Industrial Electricity Analytics</dc:title>
  <dc:subject>Electrimight - From Raw Meter Logs to Auditable Industrial Electricity Analytics</dc:subject>
  <dc:creator>Kimi</dc:creator>
  <cp:lastModifiedBy>Kimi</cp:lastModifiedBy>
  <cp:revision>1</cp:revision>
  <dcterms:created xsi:type="dcterms:W3CDTF">2026-06-01T11:15:43Z</dcterms:created>
  <dcterms:modified xsi:type="dcterms:W3CDTF">2026-06-01T11:15:43Z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{"Label":"Electrimight - From Raw Meter Logs to Auditable Industrial Electricity Analytics","ContentProducer":"001191110108MACG2KBH8F10000","ProduceID":"19e7ec22-1d02-8b98-8000-0000d438b073","ReservedCode1":"","ContentPropagator":"001191110108MACG2KBH8F20000","PropagateID":"19e7ec22-1d02-8b98-8000-0000d438b073","ReservedCode2":""}</vt:lpwstr>
  </property>
</Properties>
</file>